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Geologica"/>
      <p:regular r:id="rId201314"/>
    </p:embeddedFont>
    <p:embeddedFont>
      <p:font typeface="Geologica Medium"/>
      <p:regular r:id="rId201315"/>
    </p:embeddedFont>
    <p:embeddedFont>
      <p:font typeface="Geologica Bold"/>
      <p:regular r:id="rId201316"/>
    </p:embeddedFont>
    <p:embeddedFont>
      <p:font typeface="Oxanium Medium"/>
      <p:regular r:id="rId201317"/>
    </p:embeddedFont>
    <p:embeddedFont>
      <p:font typeface="Oxanium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10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678" cy="685800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3" name="Text 1"/>
          <p:cNvSpPr/>
          <p:nvPr/>
        </p:nvSpPr>
        <p:spPr>
          <a:xfrm>
            <a:off x="457189" y="533400"/>
            <a:ext cx="441948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CTR PREDICTION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189" y="1117699"/>
            <a:ext cx="3962301" cy="3551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3800" b="1" spc="-114" kern="100" dirty="0">
                <a:solidFill>
                  <a:srgbClr val="FFFFFF"/>
                </a:solidFill>
                <a:latin typeface="Oxanium Bold" pitchFamily="34" charset="0"/>
                <a:ea typeface="Oxanium Bold" pitchFamily="34" charset="-122"/>
                <a:cs typeface="Oxanium Bold" pitchFamily="34" charset="-120"/>
              </a:rPr>
              <a:t>CLICK-THROUGH RATE PREDICTION SYSTEM FOR ONLINE ADVERTISEMENTS USING USER BEHAVIOR ANALYTICS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189" y="4865787"/>
            <a:ext cx="3962301" cy="1121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Estimate click probability, sharpen audience targeting, and turn live campaign telemetry into confident marketing decisions.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189" y="6165155"/>
            <a:ext cx="4419489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Machine Learning Architecture · Technical Readout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6678" y="0"/>
            <a:ext cx="731501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82600"/>
            <a:ext cx="878818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TARGETING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60016"/>
            <a:ext cx="8330992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Online advertising needs a stronger signal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58786" y="1871266"/>
            <a:ext cx="8330992" cy="795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Advertisers must decide which audiences, messages, and placements deserve investment while behavior shifts across devices, cohorts, and micro-moments.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58786" y="2809478"/>
            <a:ext cx="2573769" cy="3642122"/>
          </a:xfrm>
          <a:prstGeom prst="rect">
            <a:avLst/>
          </a:prstGeom>
          <a:solidFill>
            <a:srgbClr val="DDEC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380" y="3038078"/>
            <a:ext cx="40639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7380" y="3558778"/>
            <a:ext cx="2116581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Fragmented touchpoints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87380" y="4231878"/>
            <a:ext cx="2116581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Signals scatter across platforms, leaving teams to guess real intent from disjointed logs.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437348" y="2809478"/>
            <a:ext cx="2573769" cy="3642122"/>
          </a:xfrm>
          <a:prstGeom prst="rect">
            <a:avLst/>
          </a:prstGeom>
          <a:solidFill>
            <a:srgbClr val="DDECE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942" y="3038078"/>
            <a:ext cx="406390" cy="406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65942" y="3558778"/>
            <a:ext cx="2116581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Volatile contexts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3665942" y="3966766"/>
            <a:ext cx="2116581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Audience propensity varies by hour, screen, and creative match rather than static demographics.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315909" y="2809478"/>
            <a:ext cx="2573868" cy="3642122"/>
          </a:xfrm>
          <a:prstGeom prst="rect">
            <a:avLst/>
          </a:prstGeom>
          <a:solidFill>
            <a:srgbClr val="DDECE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503" y="3038078"/>
            <a:ext cx="406390" cy="406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44503" y="3558778"/>
            <a:ext cx="2116680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Misallocated spend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544503" y="3966766"/>
            <a:ext cx="2116680" cy="122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Without predictive ranking, impressions flow toward passive views instead of high-intent clicks.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9346966" y="0"/>
            <a:ext cx="38099" cy="6858000"/>
          </a:xfrm>
          <a:prstGeom prst="rect">
            <a:avLst/>
          </a:prstGeom>
          <a:solidFill>
            <a:srgbClr val="6C5C8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5065" y="0"/>
            <a:ext cx="2806630" cy="6858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0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UNIFIED PLATFORM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09216"/>
            <a:ext cx="11074123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The system brings fragmented signals together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58786" y="1353741"/>
            <a:ext cx="11074123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 single pipeline unifies telemetry, feature engineering, and live inference into one secure, accessible interface.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0090" y="2061766"/>
            <a:ext cx="5631515" cy="3809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0190" y="3749358"/>
            <a:ext cx="1023159" cy="313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050" spc="-19" kern="100" dirty="0">
                <a:solidFill>
                  <a:srgbClr val="FFFFFF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Unified CTR System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113200" y="2460609"/>
            <a:ext cx="1524356" cy="156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050" spc="-19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User Behavior Logs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113199" y="2707401"/>
            <a:ext cx="1524356" cy="41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Click and session histories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01936" y="4640493"/>
            <a:ext cx="1524356" cy="313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050" spc="-19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Advertisement Attributes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101936" y="5044030"/>
            <a:ext cx="1524356" cy="41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Creative and metadata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25983" y="4718866"/>
            <a:ext cx="1524356" cy="156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050" spc="-19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Interaction Context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5983" y="4965658"/>
            <a:ext cx="1524356" cy="414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Device, location, time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25983" y="2485775"/>
            <a:ext cx="1524356" cy="313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7000"/>
              </a:lnSpc>
              <a:buNone/>
            </a:pPr>
            <a:r>
              <a:rPr lang="en-US" sz="1050" spc="-19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Real-Time Prediction Dashboards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525983" y="2889312"/>
            <a:ext cx="1524356" cy="20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Live CTR forecasts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58786" y="5951041"/>
            <a:ext cx="11632909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Centralized ingestion · Automated feature extraction · Role-based analytics interface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FEATURE DOMAINS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34616"/>
            <a:ext cx="11074123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Behavior and context shape click probability</a:t>
            </a:r>
            <a:endParaRPr lang="en-US" sz="3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1398191"/>
            <a:ext cx="3488146" cy="19620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86" y="3538041"/>
            <a:ext cx="348814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USER PROFILE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8786" y="3815457"/>
            <a:ext cx="348814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Demographics and browsing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58786" y="4223445"/>
            <a:ext cx="3488146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Longitudinal site engagement, category affinities, and prior response history.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1725" y="1398191"/>
            <a:ext cx="3488146" cy="19620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51725" y="3538041"/>
            <a:ext cx="348814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PLACEMENT CONTEXT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351725" y="3815457"/>
            <a:ext cx="348814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Device and ad category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351725" y="4223445"/>
            <a:ext cx="3488146" cy="455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Screen format, operating environment, vertical taxonomy, and creative sizing.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663" y="1398191"/>
            <a:ext cx="3488246" cy="19620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44663" y="3538041"/>
            <a:ext cx="348824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TEMPORAL DYNAMICS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144663" y="3815457"/>
            <a:ext cx="348824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Timing and recent interactions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144663" y="4223445"/>
            <a:ext cx="3488246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Time of day, day-part recency, dwell duration, and immediate prior click frequency.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34616"/>
            <a:ext cx="11074123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From raw events to a usable prediction</a:t>
            </a:r>
            <a:endParaRPr lang="en-US" sz="3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1398191"/>
            <a:ext cx="406390" cy="40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8786" y="1926431"/>
            <a:ext cx="253993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Ingest interaction data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58786" y="2334419"/>
            <a:ext cx="2539936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Stream ad impressions, display events, and user telemetry through unified validation pipelines.</a:t>
            </a:r>
            <a:endParaRPr lang="en-US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515" y="1398191"/>
            <a:ext cx="406390" cy="406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03515" y="1926431"/>
            <a:ext cx="253993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Transform features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3403515" y="2334419"/>
            <a:ext cx="2539936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Encode interaction attributes, normalise continuous counters, and structure sparse categorical features.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244" y="1398191"/>
            <a:ext cx="406390" cy="4064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48244" y="1926431"/>
            <a:ext cx="253993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Train classifiers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248244" y="2334419"/>
            <a:ext cx="2539936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Fit gradient-boosted and probabilistic classification models on historical interaction pairs.</a:t>
            </a:r>
            <a:endParaRPr lang="en-US" sz="13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973" y="1398191"/>
            <a:ext cx="406390" cy="406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092973" y="1926431"/>
            <a:ext cx="2539936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Deliver probability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9092973" y="2334419"/>
            <a:ext cx="2539936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Serve calibrated click probabilities and cohort confidence intervals directly to bidding engines.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MODELING FOUNDATION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09216"/>
            <a:ext cx="11074123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Classification turns patterns into probabilities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58786" y="1353741"/>
            <a:ext cx="11074123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Supervised algorithms evaluate historical user-ad vectors, mapping multi-dimensional interactions to a bounded probability score between 0 and 1.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1981" y="2280841"/>
            <a:ext cx="3488146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INPUT VECTORS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1981" y="2668885"/>
            <a:ext cx="3284951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Contextual matching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1981" y="3076873"/>
            <a:ext cx="3284951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Cross-references user browsing momentum against advertiser category to evaluate topical relevance before ad delivery.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453322" y="2280841"/>
            <a:ext cx="3488146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SUPERVISED LEARNING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53322" y="2668885"/>
            <a:ext cx="3284951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Historical grounding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53322" y="3076873"/>
            <a:ext cx="3284951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Trains across verified click and non-click outcomes to penalize false positives and isolate durable engagement drivers.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941469" y="2026841"/>
            <a:ext cx="3691440" cy="4399359"/>
          </a:xfrm>
          <a:custGeom>
            <a:avLst/>
            <a:gdLst/>
            <a:ahLst/>
            <a:cxnLst/>
            <a:rect l="l" t="t" r="r" b="b"/>
            <a:pathLst>
              <a:path w="3691440" h="4399359">
                <a:moveTo>
                  <a:pt x="0" y="0"/>
                </a:moveTo>
                <a:lnTo>
                  <a:pt x="3681916" y="0"/>
                </a:lnTo>
                <a:arcTo hR="9525" wR="9525" stAng="16200000" swAng="5400000"/>
                <a:lnTo>
                  <a:pt x="3691440" y="4389834"/>
                </a:lnTo>
                <a:arcTo hR="9525" wR="9525" stAng="0" swAng="5400000"/>
                <a:lnTo>
                  <a:pt x="0" y="4399359"/>
                </a:lnTo>
                <a:lnTo>
                  <a:pt x="0" y="0"/>
                </a:lnTo>
                <a:close/>
              </a:path>
            </a:pathLst>
          </a:custGeom>
          <a:solidFill>
            <a:srgbClr val="DDECEE"/>
          </a:solidFill>
          <a:ln/>
        </p:spPr>
      </p:sp>
      <p:sp>
        <p:nvSpPr>
          <p:cNvPr id="12" name="Shape 10"/>
          <p:cNvSpPr/>
          <p:nvPr/>
        </p:nvSpPr>
        <p:spPr>
          <a:xfrm>
            <a:off x="7941469" y="2026841"/>
            <a:ext cx="19050" cy="4399359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13" name="Text 11"/>
          <p:cNvSpPr/>
          <p:nvPr/>
        </p:nvSpPr>
        <p:spPr>
          <a:xfrm>
            <a:off x="8163713" y="2280841"/>
            <a:ext cx="3469196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INFERENCE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3713" y="2668885"/>
            <a:ext cx="3266001" cy="293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Calibrated score </a:t>
            </a:r>
            <a:pPr algn="l" indent="0" marL="0">
              <a:lnSpc>
                <a:spcPct val="97000"/>
              </a:lnSpc>
              <a:buNone/>
            </a:pPr>
            <a:r>
              <a:rPr lang="en-US" sz="1700" i="1" spc="-22" kern="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endParaRPr lang="en-US" sz="18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2765" y="2675235"/>
            <a:ext cx="766346" cy="287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163713" y="3105150"/>
            <a:ext cx="3266001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Outputs a rigorous likelihood score for real-time bid pricing, audience prioritization, and creative routing.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243777" y="2026841"/>
            <a:ext cx="12700" cy="4399359"/>
          </a:xfrm>
          <a:prstGeom prst="rect">
            <a:avLst/>
          </a:prstGeom>
          <a:solidFill>
            <a:srgbClr val="6C5C8D"/>
          </a:solidFill>
          <a:ln/>
        </p:spPr>
      </p:sp>
      <p:sp>
        <p:nvSpPr>
          <p:cNvPr id="18" name="Shape 15"/>
          <p:cNvSpPr/>
          <p:nvPr/>
        </p:nvSpPr>
        <p:spPr>
          <a:xfrm>
            <a:off x="7935119" y="2026841"/>
            <a:ext cx="12700" cy="4399359"/>
          </a:xfrm>
          <a:prstGeom prst="rect">
            <a:avLst/>
          </a:prstGeom>
          <a:solidFill>
            <a:srgbClr val="6C5C8D"/>
          </a:solidFill>
          <a:ln/>
        </p:spPr>
      </p:sp>
      <p:sp>
        <p:nvSpPr>
          <p:cNvPr id="19" name="Text 16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09216"/>
            <a:ext cx="11074123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One interface for prediction and analysis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558786" y="1372791"/>
            <a:ext cx="3488146" cy="5053409"/>
          </a:xfrm>
          <a:prstGeom prst="rect">
            <a:avLst/>
          </a:prstGeom>
          <a:solidFill>
            <a:srgbClr val="DDECE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80" y="1677591"/>
            <a:ext cx="40639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780" y="2198291"/>
            <a:ext cx="2980159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400" spc="-29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Secure data access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12780" y="2694682"/>
            <a:ext cx="2980159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Role-based permissioning, encrypted telemetry stores, and audit logs safeguarding proprietary audience data.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351725" y="1372791"/>
            <a:ext cx="3488146" cy="5053409"/>
          </a:xfrm>
          <a:prstGeom prst="rect">
            <a:avLst/>
          </a:prstGeom>
          <a:solidFill>
            <a:srgbClr val="DDECE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5718" y="1677591"/>
            <a:ext cx="40639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05718" y="2198291"/>
            <a:ext cx="2980159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400" spc="-29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Granular reports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605718" y="2694682"/>
            <a:ext cx="2980159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Probability distributions computed across bespoke audience clusters, individual campaigns, or macro segments.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144663" y="1372791"/>
            <a:ext cx="3488246" cy="5053409"/>
          </a:xfrm>
          <a:prstGeom prst="rect">
            <a:avLst/>
          </a:prstGeom>
          <a:solidFill>
            <a:srgbClr val="DDECEE"/>
          </a:solidFill>
          <a:ln/>
        </p:spPr>
      </p:sp>
      <p:sp>
        <p:nvSpPr>
          <p:cNvPr id="13" name="Shape 9"/>
          <p:cNvSpPr/>
          <p:nvPr/>
        </p:nvSpPr>
        <p:spPr>
          <a:xfrm>
            <a:off x="8144663" y="1372791"/>
            <a:ext cx="19050" cy="5053409"/>
          </a:xfrm>
          <a:prstGeom prst="rect">
            <a:avLst/>
          </a:prstGeom>
          <a:solidFill>
            <a:srgbClr val="07101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707" y="1677591"/>
            <a:ext cx="406390" cy="4064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17707" y="2198291"/>
            <a:ext cx="2961209" cy="7070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400" spc="-29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Actionable dashboards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8417707" y="3048198"/>
            <a:ext cx="2961209" cy="981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Real-time performance visualisations comparing modeled click propensities against realized campaign outcomes.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31800"/>
            <a:ext cx="838179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PERFORMANCE DIAGNOSTICS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09216"/>
            <a:ext cx="80008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Analytics reveal where performance can improve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58786" y="1820466"/>
            <a:ext cx="8000800" cy="5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Tracking model calibration across device tiers highlights where bids consistently out-earn baseline conversion rates.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786" y="2528491"/>
            <a:ext cx="7111822" cy="29222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8786" y="5530155"/>
            <a:ext cx="8381790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Telemetry window analysis · Relative click likelihood across normalized cohorts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940576" y="0"/>
            <a:ext cx="3251119" cy="6858000"/>
          </a:xfrm>
          <a:prstGeom prst="rect">
            <a:avLst/>
          </a:prstGeom>
          <a:solidFill>
            <a:srgbClr val="F2F7F6"/>
          </a:solidFill>
          <a:ln/>
        </p:spPr>
      </p:sp>
      <p:sp>
        <p:nvSpPr>
          <p:cNvPr id="8" name="Shape 5"/>
          <p:cNvSpPr/>
          <p:nvPr/>
        </p:nvSpPr>
        <p:spPr>
          <a:xfrm>
            <a:off x="8940576" y="0"/>
            <a:ext cx="19050" cy="6858000"/>
          </a:xfrm>
          <a:prstGeom prst="rect">
            <a:avLst/>
          </a:prstGeom>
          <a:solidFill>
            <a:srgbClr val="071018"/>
          </a:solidFill>
          <a:ln/>
        </p:spPr>
      </p:sp>
      <p:sp>
        <p:nvSpPr>
          <p:cNvPr id="9" name="Text 6"/>
          <p:cNvSpPr/>
          <p:nvPr/>
        </p:nvSpPr>
        <p:spPr>
          <a:xfrm>
            <a:off x="9239019" y="2065238"/>
            <a:ext cx="295267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OPTIMIZATION DELTA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239019" y="2342654"/>
            <a:ext cx="2673283" cy="8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7000"/>
              </a:lnSpc>
              <a:buNone/>
            </a:pPr>
            <a:r>
              <a:rPr lang="en-US" sz="7400" spc="-222" kern="100" dirty="0">
                <a:solidFill>
                  <a:srgbClr val="000000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3.2</a:t>
            </a:r>
            <a:pPr algn="l" indent="0" marL="0">
              <a:lnSpc>
                <a:spcPct val="77000"/>
              </a:lnSpc>
              <a:buNone/>
            </a:pPr>
            <a:r>
              <a:rPr lang="en-US" sz="2200" spc="-222" kern="100" dirty="0">
                <a:solidFill>
                  <a:srgbClr val="000000"/>
                </a:solidFill>
                <a:latin typeface="Oxanium Medium" pitchFamily="34" charset="0"/>
                <a:ea typeface="Oxanium Medium" pitchFamily="34" charset="-122"/>
                <a:cs typeface="Oxanium Medium" pitchFamily="34" charset="-120"/>
              </a:rPr>
              <a:t>X</a:t>
            </a:r>
            <a:endParaRPr lang="en-US" sz="7400" dirty="0"/>
          </a:p>
        </p:txBody>
      </p:sp>
      <p:sp>
        <p:nvSpPr>
          <p:cNvPr id="11" name="Text 8"/>
          <p:cNvSpPr/>
          <p:nvPr/>
        </p:nvSpPr>
        <p:spPr>
          <a:xfrm>
            <a:off x="9239019" y="3385046"/>
            <a:ext cx="2673283" cy="353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2400" spc="-29" kern="100" dirty="0">
                <a:solidFill>
                  <a:srgbClr val="000000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Signal separation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239019" y="3881438"/>
            <a:ext cx="2673283" cy="911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Targeted cohorts in peak evening windows demonstrate over 3x the responsive propensity of broad broadcast delivery.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457200"/>
            <a:ext cx="116329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PRACTICAL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8786" y="734616"/>
            <a:ext cx="11074123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500" spc="-63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Designed for practical marketing decisions</a:t>
            </a:r>
            <a:endParaRPr lang="en-US" sz="3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1398191"/>
          <a:ext cx="11074123" cy="914400"/>
        </p:xfrm>
        <a:graphic>
          <a:graphicData uri="http://schemas.openxmlformats.org/drawingml/2006/table">
            <a:tbl>
              <a:tblPr/>
              <a:tblGrid>
                <a:gridCol w="2657706"/>
                <a:gridCol w="3986609"/>
                <a:gridCol w="4429808"/>
              </a:tblGrid>
              <a:tr h="5470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spc="128" kern="1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DECISION AREA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spc="128" kern="1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ANALYTICAL CAPABILITY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spc="128" kern="1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COMMERCIAL OUTCOME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7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Audience Targeting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Filter out low-propensity cohorts before auction entry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Reduce wasted impression spend across inactive profiles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7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Creative Strategy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Pair specific visual treatments with predicted device context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Deliver the right ad variant to the most receptive screen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4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Budget Allocation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Dynamic bid weighting based on estimated click rate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F2F7F6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Maximize return on ad spend across high-probability hours</a:t>
                      </a:r>
                      <a:endParaRPr lang="en-US" sz="16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25399" marR="152396" marT="126997" marB="126997" anchor="ctr">
                    <a:lnL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E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710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439139" y="6416973"/>
            <a:ext cx="1142971" cy="272455"/>
          </a:xfrm>
          <a:prstGeom prst="rect">
            <a:avLst/>
          </a:prstGeom>
          <a:noFill/>
          <a:ln/>
        </p:spPr>
        <p:txBody>
          <a:bodyPr wrap="none" lIns="0" tIns="63498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4185" y="558800"/>
            <a:ext cx="713722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78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SCALE &amp;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84185" y="836216"/>
            <a:ext cx="6629234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5000" spc="-90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 scalable foundation for smarter advertising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584185" y="3082528"/>
            <a:ext cx="2187520" cy="31651"/>
          </a:xfrm>
          <a:prstGeom prst="roundRect">
            <a:avLst>
              <a:gd name="adj" fmla="val 49998"/>
            </a:avLst>
          </a:prstGeom>
          <a:solidFill>
            <a:srgbClr val="6C5C8D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3341291"/>
            <a:ext cx="3086023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Agencies &amp; Networks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84185" y="3749278"/>
            <a:ext cx="3086023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Multi-tenant reporting and real-time scoring APIs tailored for high-frequency ad exchanges.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27397" y="3341291"/>
            <a:ext cx="3086023" cy="265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800" spc="-22" kern="100" dirty="0">
                <a:solidFill>
                  <a:srgbClr val="F2F7F6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E-Commerce &amp; Brands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27397" y="3749278"/>
            <a:ext cx="3086023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2F7F6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Customer journey personalization and catalog re-targeting based on genuine purchase intent.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4185" y="4636691"/>
            <a:ext cx="7137221" cy="210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spc="10" kern="100" dirty="0">
                <a:solidFill>
                  <a:srgbClr val="A9C3C8"/>
                </a:solidFill>
                <a:latin typeface="Geologica Medium" pitchFamily="34" charset="0"/>
                <a:ea typeface="Geologica Medium" pitchFamily="34" charset="-122"/>
                <a:cs typeface="Geologica Medium" pitchFamily="34" charset="-120"/>
              </a:rPr>
              <a:t>Enterprise Machine Learning Platform · Deployable across cloud and on-premise stacks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21407" y="0"/>
            <a:ext cx="38099" cy="6858000"/>
          </a:xfrm>
          <a:prstGeom prst="rect">
            <a:avLst/>
          </a:prstGeom>
          <a:solidFill>
            <a:srgbClr val="6C5C8D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9506" y="0"/>
            <a:ext cx="4432189" cy="6858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892453" y="3341291"/>
            <a:ext cx="12700" cy="1117600"/>
          </a:xfrm>
          <a:prstGeom prst="rect">
            <a:avLst/>
          </a:prstGeom>
          <a:solidFill>
            <a:srgbClr val="6C5C8D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2026-10-03T06:55:39Z</dcterms:created>
  <dcterms:modified xsi:type="dcterms:W3CDTF">2026-10-03T06:55:39Z</dcterms:modified>
</cp:coreProperties>
</file>